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bin" ContentType="application/octet-stream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charts/chart1.xml" ContentType="application/vnd.openxmlformats-officedocument.drawingml.chart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6858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slide" Target="slides/slide1.xml"/></Relationships>
</file>

<file path=ppt/charts/chart1.xml><?xml version="1.0" encoding="utf-8"?>
<c:chartSpace xmlns:a="http://schemas.openxmlformats.org/drawingml/2006/main" xmlns:c="http://schemas.openxmlformats.org/drawingml/2006/chart">
  <c:chart>
    <c:title>
      <c:tx>
        <c:rich>
          <a:p>
            <a:r>
              <a:t>Quarterly revenue</a:t>
            </a:r>
          </a:p>
        </c:rich>
      </c:tx>
    </c:title>
    <c:plotArea>
      <c:barChart>
        <c:ser>
          <c:tx>
            <c:rich>
              <a:p>
                <a:r>
                  <a:t>Revenue</a:t>
                </a:r>
              </a:p>
            </c:rich>
          </c:tx>
          <c:cat>
            <c:strLit>
              <c:pt idx="0">
                <c:v>Q1</c:v>
              </c:pt>
              <c:pt idx="1">
                <c:v>Q2</c:v>
              </c:pt>
            </c:strLit>
          </c:cat>
          <c:val>
            <c:numLit>
              <c:pt idx="0">
                <c:v>10.5</c:v>
              </c:pt>
              <c:pt idx="1">
                <c:v>12</c:v>
              </c:pt>
            </c:numLit>
          </c:val>
        </c:ser>
        <c:ser>
          <c:tx>
            <c:strRef>
              <c:strCache>
                <c:pt idx="0">
                  <c:v>Costs</c:v>
                </c:pt>
              </c:strCache>
            </c:strRef>
          </c:tx>
          <c:cat>
            <c:strLit>
              <c:pt idx="0">
                <c:v>Q1</c:v>
              </c:pt>
              <c:pt idx="1">
                <c:v>Q2</c:v>
              </c:pt>
            </c:strLit>
          </c:cat>
          <c:val>
            <c:numLit>
              <c:pt idx="0">
                <c:v>7</c:v>
              </c:pt>
              <c:pt idx="1">
                <c:v>8.25</c:v>
              </c:pt>
            </c:numLit>
          </c:val>
        </c:ser>
      </c:barChart>
      <c:catAx>
        <c:title>
          <c:tx>
            <c:rich>
              <a:p>
                <a:r>
                  <a:t>Quarter</a:t>
                </a:r>
              </a:p>
            </c:rich>
          </c:tx>
        </c:title>
      </c:catAx>
      <c:valAx>
        <c:title>
          <c:tx>
            <c:rich>
              <a:p>
                <a:r>
                  <a:t>USD millions</a:t>
                </a:r>
              </a:p>
            </c:rich>
          </c:tx>
        </c:title>
      </c:valAx>
    </c:plotArea>
  </c:chart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sp>
        <p:nvSpPr>
          <p:cNvPr id="2" name="Layout title"/>
          <p:cNvSpPr/>
          <p:nvPr>
            <p:ph type="title"/>
          </p:nvPr>
        </p:nvSpPr>
        <p:spPr>
          <a:xfrm>
            <a:off x="914400" y="457200"/>
            <a:ext cx="7315200" cy="914400"/>
          </a:xfrm>
          <a:prstGeom prst="rect"/>
        </p:spPr>
        <p:txBody>
          <a:bodyPr/>
          <a:lstStyle>
            <a:lvl1pPr>
              <a:defRPr sz="3200">
                <a:latin typeface="+mj-lt"/>
              </a:defRPr>
            </a:lvl1pPr>
          </a:lstStyle>
          <a:p/>
        </p:txBody>
      </p:sp>
      <p:sp>
        <p:nvSpPr>
          <p:cNvPr id="3" name="Layout body"/>
          <p:cNvSpPr/>
          <p:nvPr>
            <p:ph type="body" idx="1"/>
          </p:nvPr>
        </p:nvSpPr>
        <p:spPr/>
        <p:txBody>
          <a:bodyPr/>
          <a:lstStyle/>
          <a:p/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sp>
        <p:nvSpPr>
          <p:cNvPr id="2" name="Master body"/>
          <p:cNvSpPr/>
          <p:nvPr>
            <p:ph type="body" idx="1"/>
          </p:nvPr>
        </p:nvSpPr>
        <p:spPr>
          <a:xfrm>
            <a:off x="914400" y="1828800"/>
            <a:ext cx="7315200" cy="3657600"/>
          </a:xfrm>
          <a:prstGeom prst="rect"/>
        </p:spPr>
        <p:txBody>
          <a:bodyPr/>
          <a:lstStyle/>
          <a:p/>
        </p:txBody>
      </p:sp>
    </p:spTree>
  </p:cSld>
  <p:clrMap accent1="accent1" tx1="dk1" bg1="lt1"/>
  <p:txStyles>
    <p:titleStyle>
      <a:lvl1pPr>
        <a:defRPr sz="3000">
          <a:latin typeface="+mj-lt"/>
        </a:defRPr>
      </a:lvl1pPr>
    </p:titleStyle>
    <p:bodyStyle>
      <a:lvl1pPr>
        <a:defRPr sz="2000">
          <a:latin typeface="+mn-lt"/>
        </a:defRPr>
      </a:lvl1pPr>
    </p:bodyStyle>
    <p:otherStyle>
      <a:lvl1pPr>
        <a:defRPr sz="1800">
          <a:latin typeface="+mn-lt"/>
        </a:defRPr>
      </a:lvl1pPr>
    </p:otherStyle>
  </p:txStyles>
</p:sldMaster>
</file>

<file path=ppt/slides/_rels/slide1.xml.rels><?xml version="1.0" encoding="UTF-8"?>
<Relationships xmlns="http://schemas.openxmlformats.org/package/2006/relationships"><Relationship Id="rIdLayout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graphicFrame>
        <p:nvGraphicFramePr>
          <p:cNvPr id="2" name="Revenue chart"/>
          <p:cNvGraphicFramePr/>
          <p:nvPr/>
        </p:nvGraphicFramePr>
        <p:xfrm>
          <a:off x="914400" y="914400"/>
          <a:ext cx="4572000" cy="2743200"/>
        </p:xfrm>
        <a:graphic>
          <a:graphicData xmlns:c="http://schemas.openxmlformats.org/drawingml/2006/chart" uri="http://schemas.openxmlformats.org/drawingml/2006/chart">
            <c:chart r:id="rIdChart"/>
          </a:graphicData>
        </a:graphic>
      </p:graphicFrame>
    </p:spTree>
  </p:cSld>
</p:sld>
</file>

<file path=ppt/theme/theme1.xml><?xml version="1.0" encoding="utf-8"?>
<a:theme xmlns:a="http://schemas.openxmlformats.org/drawingml/2006/main" name="Fixture">
  <a:themeElements>
    <a:clrScheme name="Fixture">
      <a:dk1>
        <a:srgbClr val="102030"/>
      </a:dk1>
      <a:lt1>
        <a:srgbClr val="FFFFFF"/>
      </a:lt1>
      <a:accent1>
        <a:srgbClr val="336699"/>
      </a:accent1>
    </a:clrScheme>
    <a:fontScheme name="Fixture">
      <a:majorFont>
        <a:latin typeface="Fixture Serif"/>
      </a:majorFont>
      <a:minorFont>
        <a:latin typeface="Fixture Sans"/>
      </a:minorFont>
    </a:fontScheme>
  </a:themeElements>
</a:theme>
</file>